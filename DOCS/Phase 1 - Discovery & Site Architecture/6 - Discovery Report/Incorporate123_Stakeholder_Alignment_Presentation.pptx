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bubble3D val="0"/>
            <c:spPr>
              <a:solidFill>
                <a:srgbClr val="1A2744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Preserve (30)</c:v>
                </c:pt>
                <c:pt idx="1">
                  <c:v>Enhance (25)</c:v>
                </c:pt>
                <c:pt idx="2">
                  <c:v>Consolidate (249)</c:v>
                </c:pt>
                <c:pt idx="3">
                  <c:v>Retire (22)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25</c:v>
                </c:pt>
                <c:pt idx="2">
                  <c:v>249</c:v>
                </c:pt>
                <c:pt idx="3">
                  <c:v>22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INCORPORATE123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Discovery Review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Stakeholder Alignment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BIT Studios  |  March 2026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and what we need from you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3716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Opportunity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repositioning wins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13716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938528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938528"/>
            <a:ext cx="54864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3852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19385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9385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audit &amp; competitive analysis highlights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193852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505456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505456"/>
            <a:ext cx="54864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5054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25054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Site Architecture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054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71-page walkthrough by pillar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50545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072384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072384"/>
            <a:ext cx="54864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07238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30723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Migration Plan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0723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326 URLs become 71 pages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307238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639312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3639312"/>
            <a:ext cx="54864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36393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54480" y="36393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Decisions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36393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strategic questions requiring your input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363931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2062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4206240"/>
            <a:ext cx="54864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54480" y="42062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&amp; Next Steps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46320" y="4206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to unlock UX &amp; Design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42062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474720" cy="237744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"Nevada Incorporation Company"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Geography-first navigation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Generic formation terms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Competing against $50M+ budget providers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Zero H1 tags across 319 pages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10312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37760" y="1188720"/>
            <a:ext cx="3474720" cy="23774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B0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POSITIONING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0" y="16459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"Privacy, Asset Protection &amp;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Formation Specialists"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Intent-first architecture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Privacy keywords with low competition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competitor occupies this space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1E335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977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84048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combines modern UX + privacy expertise + transparent pricing + nominee services. This is a wide-open market position.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AUDIT: 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Crawled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(vs. 171 estimated)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Paths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to destinations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Items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(vs. 111 estimated)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665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Tags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entire site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98064"/>
            <a:ext cx="228600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34440" y="2743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Pillar/cluster consolidation model validated by content analysis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09544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34440" y="3154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 Learning Center URLs collapse into contextual FAQ sections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21024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34440" y="3566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duplicate content groups eliminated in new architecture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32504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3977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2.3x larger than estimated — but consolidation target holds</a:t>
            </a:r>
            <a:endParaRPr lang="en-US" sz="1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43984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34440" y="4389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thin-content pages (&lt;300 words) require expansion or merge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competitors leave a gap you can own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NCH Inc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874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yrs, 12K+ reviews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6888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Nevada-only, no privacy focus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0" y="137160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0" y="1371600"/>
            <a:ext cx="18288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0"/>
          <p:cNvSpPr/>
          <p:nvPr/>
        </p:nvSpPr>
        <p:spPr>
          <a:xfrm>
            <a:off x="27432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WCS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92024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08960" y="1874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privacy messaging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246888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10896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$400/yr nominee add-on, UX dated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754880" y="137160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754880" y="1371600"/>
            <a:ext cx="18288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5"/>
          <p:cNvSpPr/>
          <p:nvPr/>
        </p:nvSpPr>
        <p:spPr>
          <a:xfrm>
            <a:off x="475488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Anderson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920240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20640" y="1874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 anonymous LLC articles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46888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2064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real estate focus only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766560" y="137160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766560" y="1371600"/>
            <a:ext cx="18288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0"/>
          <p:cNvSpPr/>
          <p:nvPr/>
        </p:nvSpPr>
        <p:spPr>
          <a:xfrm>
            <a:off x="67665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Providers</a:t>
            </a:r>
            <a:endParaRPr lang="en-US" sz="13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920240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32320" y="1874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formation, massive ad spend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2468880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13232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privacy/AP content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4" name="Text 24"/>
          <p:cNvSpPr/>
          <p:nvPr/>
        </p:nvSpPr>
        <p:spPr>
          <a:xfrm>
            <a:off x="100584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OPPORTUNITY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1005840" y="397764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ranks for: </a:t>
            </a:r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"anonymous LLC formation," "best state for LLC privacy," "nominee director services," "hide LLC ownership"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SITE ARCHITECTURE: FOUR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focused pages organized by customer intent, not geography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3200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pages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94360" y="3063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/privacy/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33832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pillar. Anonymous LLCs, nominee services, state privacy.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371600"/>
            <a:ext cx="1965960" cy="32004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00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4320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pages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743200" y="3063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/asset-protection/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743200" y="33832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orders, holding LLCs, multi-entity structures.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1371600"/>
            <a:ext cx="1965960" cy="32004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002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9204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9204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pages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4892040" y="3063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/formation/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92040" y="33832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LLC vs Corp, state selection, shelf companies.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03720" y="1371600"/>
            <a:ext cx="1965960" cy="3200400"/>
          </a:xfrm>
          <a:prstGeom prst="rect">
            <a:avLst/>
          </a:prstGeom>
          <a:solidFill>
            <a:srgbClr val="0F4C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0020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04088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pages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040880" y="3063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/compliance/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040880" y="33832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agent, annual reports, domestication.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37160" cy="508863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1: BUSINESS PRIVACY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pillar — most prospects arrive searching for privacy solutions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914400"/>
                <a:gridCol w="2926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Privacy Hub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/privacy/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education hub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Anonymous LLC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/anonymous-llc/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720-1,100 monthly searches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Anonymous Corporation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/anonymous-corporation/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privacy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Nominee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/nominee-services/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differentiator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Wyoming Privacy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/wyoming-privacy/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WY-specific advantages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Nevada Privacy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/nevada-privacy/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NV-specific advantages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 Private Inc.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/california-private-incorporation/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WY + CA registration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 Private Inc.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/florida-private-incorporation/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WY + FL registration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BOI Reporting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/beneficial-ownership-reporting/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CTA compliance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State for Privacy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/best-state-for-privacy/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390-590 searches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WY vs NV Privacy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/wyoming-vs-nevada-privacy/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Head-to-head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PILLARS 2-4 + SUPPORTING PAGES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Protection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Pillar Hub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Order Protection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 Asset Protection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 Asset Protection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Holding LLC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State for 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 vs NV for 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00584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143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Formation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Hub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LLC vs Corporation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 Formation Guide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 Formation Guide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Selection Guide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Companies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3749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 State Hub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 State Hub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2044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States Hub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00584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143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pages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Hub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Agent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Registration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+ 39 additional pages: 14 packages, 3 state hubs, 8 offshore, 14 utility/conversion pages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MIGRATION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URL has a destination — no content is lost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206240" y="1280160"/>
            <a:ext cx="45720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206240" y="1280160"/>
            <a:ext cx="54864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4434840" y="1325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(9%)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3484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pages migrate with minimal changes — homepage, about, offshore packages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06240" y="1993392"/>
            <a:ext cx="45720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1993392"/>
            <a:ext cx="54864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20391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(8%)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34840" y="2267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pages get significant expansion — pillar hubs, package pages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06240" y="2706624"/>
            <a:ext cx="45720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06240" y="2706624"/>
            <a:ext cx="54864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4434840" y="275234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(76%)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34840" y="29809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 URLs merge into parent pages — primarily Learning Center FAQ items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06240" y="3419856"/>
            <a:ext cx="45720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06240" y="3419856"/>
            <a:ext cx="54864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4434840" y="34655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(7%)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34840" y="3694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pages redirect only — SB60 legacy, obsolete utility pages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06240" y="4133088"/>
            <a:ext cx="45720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06240" y="4133088"/>
            <a:ext cx="54864" cy="6217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1"/>
          <p:cNvSpPr/>
          <p:nvPr/>
        </p:nvSpPr>
        <p:spPr>
          <a:xfrm>
            <a:off x="4434840" y="41788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New Pages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434840" y="4407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from scratch to fill gaps identified in competitive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JOURNEYS &amp; CONVERSION PATHS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73736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(Education)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28016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0" y="1097280"/>
            <a:ext cx="173736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0" y="1097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(Specifics)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801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37760" y="1097280"/>
            <a:ext cx="173736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37760" y="1097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(Decision)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132320" y="1097280"/>
            <a:ext cx="1737360" cy="7315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7132320" y="1097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(Conversion)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" y="210312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Privacy Seeker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560320" y="2148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"anonymous LLC" → Privacy Hub → Anonymous LLC → Best State for Privacy → Wyoming Gold Package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560320" y="2514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30-40% cross-sell to Asset Protection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063240"/>
            <a:ext cx="73152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Asset Protector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560320" y="3108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"LLC asset protection" → AP Hub → Charging Order Protection → Best State for AP → Gold + Holding LLC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560320" y="3474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multi-entity clients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4023360"/>
            <a:ext cx="73152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7" name="Text 22"/>
          <p:cNvSpPr/>
          <p:nvPr/>
        </p:nvSpPr>
        <p:spPr>
          <a:xfrm>
            <a:off x="73152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Formation Buyer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560320" y="4069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"Wyoming LLC" → Formation Hub or direct to Package → Silver or Gold depending on privacy needs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256032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→ Gold upgrade path via privacy content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STRATEGIC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input is needed on these 4 items before we proceed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02920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Domain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4813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the new site live at incorporate123.com or incorporate123.co?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71907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Migrate to .com — temporary dip recovers in 1-3 months, .com carries stronger brand trust.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21408"/>
            <a:ext cx="502920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2140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167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41401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Gold / Silver / Bronze tier naming and whether Bronze stays Nevada-only.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65176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Maintain 3-tier structure. Bronze captures price-sensitive leads with upgrade path.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54096"/>
            <a:ext cx="502920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54096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099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Pillar 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34670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Compliance be a full pillar, or supporting content within other pillars?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58444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Full pillar — it captures existing client retention and RA upsells.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86784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86784"/>
            <a:ext cx="502920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86784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4032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Consolidation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27939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domains owned — should any (offshore123, wyoming123) get standalone content?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51713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All redirect to primary domain. No standalone content justifies the SEO split.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ASSESSMENT &amp; MITIGATION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Likelihood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Temporary SEO ranking 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 redirects for all 326 URLs. Staged launch + monitoring.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migration traffic dip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 month recovery. Executed with URL restructure to minimize impact.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loss in consolidation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URL mapped to a destination. No content deleted.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gap (zero reviews)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Trustpilot pre-launch. 25-yr history + office photos + guarantee.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approval delays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 day review windows. Clear milestone gates.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approval unlocks five parallel workstreams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&amp; Interactive Prototyping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280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2-5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hrs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wireframes for every page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47672"/>
            <a:ext cx="73152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 &amp; Design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2-5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hrs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677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visual design applied to prototypes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60904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60904"/>
            <a:ext cx="73152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Strategy &amp; Implementation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3-8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27066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hrs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98094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targeting, content briefs, schema markup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74136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374136"/>
            <a:ext cx="73152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419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4-9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4198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120-180 hrs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69417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WordPress/CMS build, all 71 pages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87368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087368"/>
            <a:ext cx="73152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Launch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8-10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hrs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4074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QA, redirects verified, go-live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PROJECT: 436-496 HOURS  |  10 WEEKS  |  ROLLING MILESTONE APPROVALS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REQUIRED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Discovery Complete — Milestone Gate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97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26517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four-pillar site architecture (Privacy, Asset Protection, Formation, Compliance)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081528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30358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326-to-71 content consolidation plan and redirect strategy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465576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37360" y="34198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positioning: "Privacy, Asset Protection &amp; Business Formation Specialists"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849624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37360" y="38039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on primary domain (.co vs .com) for migration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233672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37360" y="41879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transition to Phase 2: UX &amp; Interactive Prototyping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1828800" y="4663440"/>
            <a:ext cx="54864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9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Studios  |  Incorporate123 Redesign  |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Incorporate123 - Phase 1 Discovery Review &amp; Stakeholder Alignment</dc:title>
  <dc:subject>PptxGenJS Presentation</dc:subject>
  <dc:creator>BIT Studios</dc:creator>
  <cp:lastModifiedBy>BIT Studios</cp:lastModifiedBy>
  <cp:revision>1</cp:revision>
  <dcterms:created xsi:type="dcterms:W3CDTF">2026-03-01T23:12:58Z</dcterms:created>
  <dcterms:modified xsi:type="dcterms:W3CDTF">2026-03-01T23:12:58Z</dcterms:modified>
</cp:coreProperties>
</file>